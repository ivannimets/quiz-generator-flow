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b9a91ed-fda9-d9c3-d7a2-d359d68af08d}">
          <p14:sldIdLst>
            <p14:sldId id="256"/>
            <p14:sldId id="257"/>
          </p14:sldIdLst>
        </p14:section>
        <p14:section name="Coach experience" id="{bac1819b-770c-94ef-ee90-e3fcf428f3e1}">
          <p14:sldIdLst>
            <p14:sldId id="258"/>
          </p14:sldIdLst>
        </p14:section>
        <p14:section name="How it works" id="{caf59640-20d6-6d6f-1928-7151f5582285}">
          <p14:sldIdLst>
            <p14:sldId id="259"/>
            <p14:sldId id="260"/>
          </p14:sldIdLst>
        </p14:section>
        <p14:section name="Data processing" id="{12bf7ae1-b830-6c30-c946-0153fb5941b0}">
          <p14:sldIdLst>
            <p14:sldId id="261"/>
            <p14:sldId id="262"/>
          </p14:sldIdLst>
        </p14:section>
        <p14:section name="AI request" id="{eb04dd2b-1da2-4648-5496-8bbf85abae20}">
          <p14:sldIdLst>
            <p14:sldId id="263"/>
            <p14:sldId id="264"/>
            <p14:sldId id="265"/>
          </p14:sldIdLst>
        </p14:section>
        <p14:section name="Cost" id="{c391b4f0-6c84-3aea-2ac0-3767c15b291e}">
          <p14:sldIdLst>
            <p14:sldId id="266"/>
            <p14:sldId id="267"/>
          </p14:sldIdLst>
        </p14:section>
        <p14:section name="Wrap-up" id="{b883f1e9-d89d-ef05-eb27-aafb039b7769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9AA3B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9AA3B0"/>
                </a:solidFill>
                <a:latin typeface="+mn-lt"/>
              </a:rPr>
              <a:t>Estimated input tokens, sample scout report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</c:v>
                </c:pt>
              </c:strCache>
            </c:strRef>
          </c:tx>
          <c:spPr>
            <a:solidFill>
              <a:srgbClr val="9AA3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B3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Raw JSON (pretty)</c:v>
                  </c:pt>
                  <c:pt idx="1">
                    <c:v>Raw JSON (minified)</c:v>
                  </c:pt>
                  <c:pt idx="2">
                    <c:v>Compact format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14000</c:v>
                </c:pt>
                <c:pt idx="1">
                  <c:v>8000</c:v>
                </c:pt>
                <c:pt idx="2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9AA3B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9AA3B0"/>
                </a:solidFill>
                <a:latin typeface="+mn-lt"/>
              </a:rPr>
              <a:t>USD per month, 10-question quizzes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Hackathon approach (Sonnet)</c:v>
                </c:pt>
              </c:strCache>
            </c:strRef>
          </c:tx>
          <c:spPr>
            <a:solidFill>
              <a:srgbClr val="9AA3B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quizzes</c:v>
                  </c:pt>
                  <c:pt idx="1">
                    <c:v>1,000 quizzes</c:v>
                  </c:pt>
                  <c:pt idx="2">
                    <c:v>10,000 quizzes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3.99</c:v>
                </c:pt>
                <c:pt idx="1">
                  <c:v>39.86</c:v>
                </c:pt>
                <c:pt idx="2">
                  <c:v>398.6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approach (Sonnet 5.5)</c:v>
                </c:pt>
              </c:strCache>
            </c:strRef>
          </c:tx>
          <c:spPr>
            <a:solidFill>
              <a:srgbClr val="2EA3D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quizzes</c:v>
                  </c:pt>
                  <c:pt idx="1">
                    <c:v>1,000 quizzes</c:v>
                  </c:pt>
                  <c:pt idx="2">
                    <c:v>10,000 quizzes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</c:v>
                </c:pt>
                <c:pt idx="1">
                  <c:v>12.01</c:v>
                </c:pt>
                <c:pt idx="2">
                  <c:v>120.1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approach (Haiku 5.5)</c:v>
                </c:pt>
              </c:strCache>
            </c:strRef>
          </c:tx>
          <c:spPr>
            <a:solidFill>
              <a:srgbClr val="2FB37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quizzes</c:v>
                  </c:pt>
                  <c:pt idx="1">
                    <c:v>1,000 quizzes</c:v>
                  </c:pt>
                  <c:pt idx="2">
                    <c:v>10,000 quizzes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0.06</c:v>
                </c:pt>
                <c:pt idx="1">
                  <c:v>0.61</c:v>
                </c:pt>
                <c:pt idx="2">
                  <c:v>6.08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23944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B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this meeting: agree on the approach, the coach experience and the cost model before I start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377440" cy="548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97280" cy="25237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CfWg2WMqJfHAEYfRHgmCgQ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CfWg2WMqJfHAEYfRHgmCgQ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chemeClr val="bg1"/>
                </a:solidFill>
              </a:rPr>
              <a:t>AI QUIZ GENERATOR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08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One click turns a scout report, presentation or play into a ready-to-review quiz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Proposal · Oct 2026 · Ivan Nimets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Interactive flow: </a:t>
            </a:r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clickable diagram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we are building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A coach picks one item, sets a few options and clicks Generate. Our code collects and compresses the data, one AI call writes the questions, and our code saves them as a Pending quiz in the existing Quiz Builder.</a:t>
            </a:r>
            <a:endParaRPr lang="en-US" sz="1700" dirty="0"/>
          </a:p>
        </p:txBody>
      </p:sp>
      <p:sp>
        <p:nvSpPr>
          <p:cNvPr id="5" name="stat0"/>
          <p:cNvSpPr/>
          <p:nvPr/>
        </p:nvSpPr>
        <p:spPr>
          <a:xfrm>
            <a:off x="548640" y="2834640"/>
            <a:ext cx="347472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154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~95%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389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fewer source tokens than sending raw JSON</a:t>
            </a:r>
            <a:endParaRPr lang="en-US" sz="1500" dirty="0"/>
          </a:p>
        </p:txBody>
      </p:sp>
      <p:sp>
        <p:nvSpPr>
          <p:cNvPr id="8" name="stat1"/>
          <p:cNvSpPr/>
          <p:nvPr/>
        </p:nvSpPr>
        <p:spPr>
          <a:xfrm>
            <a:off x="4297680" y="2834640"/>
            <a:ext cx="347472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3154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~1¢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4389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per 10-question quiz on Claude Sonnet 5.5</a:t>
            </a:r>
            <a:endParaRPr lang="en-US" sz="1500" dirty="0"/>
          </a:p>
        </p:txBody>
      </p:sp>
      <p:sp>
        <p:nvSpPr>
          <p:cNvPr id="11" name="stat2"/>
          <p:cNvSpPr/>
          <p:nvPr/>
        </p:nvSpPr>
        <p:spPr>
          <a:xfrm>
            <a:off x="8046720" y="2834640"/>
            <a:ext cx="347472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3154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1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4389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AI call per quiz; everything else is our code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Estimates from a sample scout report; real numbers come from logging the first test runs.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COACH EXPERIENCE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Generate Quiz form</a:t>
            </a:r>
            <a:endParaRPr lang="en-US" sz="3200" dirty="0"/>
          </a:p>
        </p:txBody>
      </p:sp>
      <p:sp>
        <p:nvSpPr>
          <p:cNvPr id="4" name="formCard"/>
          <p:cNvSpPr/>
          <p:nvPr/>
        </p:nvSpPr>
        <p:spPr>
          <a:xfrm>
            <a:off x="548640" y="1600200"/>
            <a:ext cx="5120640" cy="4526280"/>
          </a:xfrm>
          <a:prstGeom prst="roundRect">
            <a:avLst>
              <a:gd name="adj" fmla="val 1212"/>
            </a:avLst>
          </a:prstGeom>
          <a:solidFill>
            <a:srgbClr val="F3F5F8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81E"/>
                </a:solidFill>
              </a:rPr>
              <a:t>Generate quiz with AI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574"/>
                </a:solidFill>
              </a:rPr>
              <a:t>Based on</a:t>
            </a:r>
            <a:endParaRPr lang="en-US" sz="1200" dirty="0"/>
          </a:p>
        </p:txBody>
      </p:sp>
      <p:sp>
        <p:nvSpPr>
          <p:cNvPr id="7" name="field0"/>
          <p:cNvSpPr/>
          <p:nvPr/>
        </p:nvSpPr>
        <p:spPr>
          <a:xfrm>
            <a:off x="2514600" y="2286000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2340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1E"/>
                </a:solidFill>
              </a:rPr>
              <a:t>Scout Report ▾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25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574"/>
                </a:solidFill>
              </a:rPr>
              <a:t>Item</a:t>
            </a:r>
            <a:endParaRPr lang="en-US" sz="1200" dirty="0"/>
          </a:p>
        </p:txBody>
      </p:sp>
      <p:sp>
        <p:nvSpPr>
          <p:cNvPr id="10" name="field1"/>
          <p:cNvSpPr/>
          <p:nvPr/>
        </p:nvSpPr>
        <p:spPr>
          <a:xfrm>
            <a:off x="2514600" y="2761488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1E"/>
                </a:solidFill>
              </a:rPr>
              <a:t>Ridgeview Hawks – Week 9 ▾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00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574"/>
                </a:solidFill>
              </a:rPr>
              <a:t>Questions</a:t>
            </a:r>
            <a:endParaRPr lang="en-US" sz="1200" dirty="0"/>
          </a:p>
        </p:txBody>
      </p:sp>
      <p:sp>
        <p:nvSpPr>
          <p:cNvPr id="13" name="field2"/>
          <p:cNvSpPr/>
          <p:nvPr/>
        </p:nvSpPr>
        <p:spPr>
          <a:xfrm>
            <a:off x="2514600" y="3236976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1E"/>
                </a:solidFill>
              </a:rPr>
              <a:t>10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76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574"/>
                </a:solidFill>
              </a:rPr>
              <a:t>Difficulty</a:t>
            </a:r>
            <a:endParaRPr lang="en-US" sz="1200" dirty="0"/>
          </a:p>
        </p:txBody>
      </p:sp>
      <p:sp>
        <p:nvSpPr>
          <p:cNvPr id="16" name="field3"/>
          <p:cNvSpPr/>
          <p:nvPr/>
        </p:nvSpPr>
        <p:spPr>
          <a:xfrm>
            <a:off x="2514600" y="3712464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604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1E"/>
                </a:solidFill>
              </a:rPr>
              <a:t>Medium ▾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574"/>
                </a:solidFill>
              </a:rPr>
              <a:t>Focus</a:t>
            </a:r>
            <a:endParaRPr lang="en-US" sz="1200" dirty="0"/>
          </a:p>
        </p:txBody>
      </p:sp>
      <p:sp>
        <p:nvSpPr>
          <p:cNvPr id="19" name="field4"/>
          <p:cNvSpPr/>
          <p:nvPr/>
        </p:nvSpPr>
        <p:spPr>
          <a:xfrm>
            <a:off x="2514600" y="418795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06040" y="4242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1E"/>
                </a:solidFill>
              </a:rPr>
              <a:t>Defense · Personnel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27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574"/>
                </a:solidFill>
              </a:rPr>
              <a:t>Media (optional)</a:t>
            </a:r>
            <a:endParaRPr lang="en-US" sz="1200" dirty="0"/>
          </a:p>
        </p:txBody>
      </p:sp>
      <p:sp>
        <p:nvSpPr>
          <p:cNvPr id="22" name="field5"/>
          <p:cNvSpPr/>
          <p:nvPr/>
        </p:nvSpPr>
        <p:spPr>
          <a:xfrm>
            <a:off x="2514600" y="4663440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06040" y="4718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1E"/>
                </a:solidFill>
              </a:rPr>
              <a:t>Diagram: Shallow 2x2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2029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574"/>
                </a:solidFill>
              </a:rPr>
              <a:t>Notes for AI</a:t>
            </a:r>
            <a:endParaRPr lang="en-US" sz="1200" dirty="0"/>
          </a:p>
        </p:txBody>
      </p:sp>
      <p:sp>
        <p:nvSpPr>
          <p:cNvPr id="25" name="field6"/>
          <p:cNvSpPr/>
          <p:nvPr/>
        </p:nvSpPr>
        <p:spPr>
          <a:xfrm>
            <a:off x="2514600" y="5138928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0604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1E"/>
                </a:solidFill>
              </a:rPr>
              <a:t>Focus on 3rd-down tendencies</a:t>
            </a:r>
            <a:endParaRPr lang="en-US" sz="1200" dirty="0"/>
          </a:p>
        </p:txBody>
      </p:sp>
      <p:sp>
        <p:nvSpPr>
          <p:cNvPr id="27" name="genBtn"/>
          <p:cNvSpPr/>
          <p:nvPr/>
        </p:nvSpPr>
        <p:spPr>
          <a:xfrm>
            <a:off x="3703320" y="5623560"/>
            <a:ext cx="1737360" cy="365760"/>
          </a:xfrm>
          <a:prstGeom prst="roundRect">
            <a:avLst>
              <a:gd name="adj" fmla="val 10000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03320" y="5669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 Generate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How it behaves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14884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One click, one quiz. No regenerate and no tweaking of the AI step.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Runs in the background; the coach gets a "Quiz ready" notice.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Opens in Quiz Builder as Pending. The coach edits anything, then sets Active.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Notes for AI are optional, max 200 characters.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Picked media is attached to every question.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 failure: one automatic retry, then "Quiz could not be generated, try again".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Eight steps, one paid AI call</a:t>
            </a:r>
            <a:endParaRPr lang="en-US" sz="3200" dirty="0"/>
          </a:p>
        </p:txBody>
      </p:sp>
      <p:sp>
        <p:nvSpPr>
          <p:cNvPr id="4" name="step0"/>
          <p:cNvSpPr/>
          <p:nvPr/>
        </p:nvSpPr>
        <p:spPr>
          <a:xfrm>
            <a:off x="548640" y="169164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num0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842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39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COACH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Form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Picks item and options</a:t>
            </a:r>
            <a:endParaRPr lang="en-US" sz="1300" dirty="0"/>
          </a:p>
        </p:txBody>
      </p:sp>
      <p:sp>
        <p:nvSpPr>
          <p:cNvPr id="10" name="arr0"/>
          <p:cNvSpPr/>
          <p:nvPr/>
        </p:nvSpPr>
        <p:spPr>
          <a:xfrm rot="5400000">
            <a:off x="3108960" y="2514600"/>
            <a:ext cx="22860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ep1"/>
          <p:cNvSpPr/>
          <p:nvPr/>
        </p:nvSpPr>
        <p:spPr>
          <a:xfrm>
            <a:off x="3383280" y="169164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num1"/>
          <p:cNvSpPr/>
          <p:nvPr/>
        </p:nvSpPr>
        <p:spPr>
          <a:xfrm>
            <a:off x="3611880" y="192024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19842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039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CODE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Collect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Same queries as the print builder</a:t>
            </a:r>
            <a:endParaRPr lang="en-US" sz="1300" dirty="0"/>
          </a:p>
        </p:txBody>
      </p:sp>
      <p:sp>
        <p:nvSpPr>
          <p:cNvPr id="17" name="arr1"/>
          <p:cNvSpPr/>
          <p:nvPr/>
        </p:nvSpPr>
        <p:spPr>
          <a:xfrm rot="5400000">
            <a:off x="5943600" y="2514600"/>
            <a:ext cx="22860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step2"/>
          <p:cNvSpPr/>
          <p:nvPr/>
        </p:nvSpPr>
        <p:spPr>
          <a:xfrm>
            <a:off x="6217920" y="169164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num2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19842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039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Clean &amp; compact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Drop IDs, empty and zero data</a:t>
            </a:r>
            <a:endParaRPr lang="en-US" sz="1300" dirty="0"/>
          </a:p>
        </p:txBody>
      </p:sp>
      <p:sp>
        <p:nvSpPr>
          <p:cNvPr id="24" name="arr2"/>
          <p:cNvSpPr/>
          <p:nvPr/>
        </p:nvSpPr>
        <p:spPr>
          <a:xfrm rot="5400000">
            <a:off x="8778240" y="2514600"/>
            <a:ext cx="22860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step3"/>
          <p:cNvSpPr/>
          <p:nvPr/>
        </p:nvSpPr>
        <p:spPr>
          <a:xfrm>
            <a:off x="9052560" y="169164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num3"/>
          <p:cNvSpPr/>
          <p:nvPr/>
        </p:nvSpPr>
        <p:spPr>
          <a:xfrm>
            <a:off x="9281160" y="192024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81160" y="19842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0391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CODE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Build request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Cached rules + variable data</a:t>
            </a:r>
            <a:endParaRPr lang="en-US" sz="1300" dirty="0"/>
          </a:p>
        </p:txBody>
      </p:sp>
      <p:sp>
        <p:nvSpPr>
          <p:cNvPr id="31" name="step4"/>
          <p:cNvSpPr/>
          <p:nvPr/>
        </p:nvSpPr>
        <p:spPr>
          <a:xfrm>
            <a:off x="54864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num4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2245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37160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AI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754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Generate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Structured JSON questions</a:t>
            </a:r>
            <a:endParaRPr lang="en-US" sz="1300" dirty="0"/>
          </a:p>
        </p:txBody>
      </p:sp>
      <p:sp>
        <p:nvSpPr>
          <p:cNvPr id="37" name="arr4"/>
          <p:cNvSpPr/>
          <p:nvPr/>
        </p:nvSpPr>
        <p:spPr>
          <a:xfrm rot="5400000">
            <a:off x="3108960" y="4754880"/>
            <a:ext cx="22860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8" name="step5"/>
          <p:cNvSpPr/>
          <p:nvPr/>
        </p:nvSpPr>
        <p:spPr>
          <a:xfrm>
            <a:off x="338328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num5"/>
          <p:cNvSpPr/>
          <p:nvPr/>
        </p:nvSpPr>
        <p:spPr>
          <a:xfrm>
            <a:off x="3611880" y="416052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11880" y="42245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20624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CODE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611880" y="4754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Validate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361188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Schema + count; 1 retry</a:t>
            </a:r>
            <a:endParaRPr lang="en-US" sz="1300" dirty="0"/>
          </a:p>
        </p:txBody>
      </p:sp>
      <p:sp>
        <p:nvSpPr>
          <p:cNvPr id="44" name="arr5"/>
          <p:cNvSpPr/>
          <p:nvPr/>
        </p:nvSpPr>
        <p:spPr>
          <a:xfrm rot="5400000">
            <a:off x="5943600" y="4754880"/>
            <a:ext cx="22860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5" name="step6"/>
          <p:cNvSpPr/>
          <p:nvPr/>
        </p:nvSpPr>
        <p:spPr>
          <a:xfrm>
            <a:off x="621792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num6"/>
          <p:cNvSpPr/>
          <p:nvPr/>
        </p:nvSpPr>
        <p:spPr>
          <a:xfrm>
            <a:off x="6446520" y="4160520"/>
            <a:ext cx="457200" cy="4572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46520" y="42245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CODE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4754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Map to quiz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644652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IDs, types, media, defaults</a:t>
            </a:r>
            <a:endParaRPr lang="en-US" sz="1300" dirty="0"/>
          </a:p>
        </p:txBody>
      </p:sp>
      <p:sp>
        <p:nvSpPr>
          <p:cNvPr id="51" name="arr6"/>
          <p:cNvSpPr/>
          <p:nvPr/>
        </p:nvSpPr>
        <p:spPr>
          <a:xfrm rot="5400000">
            <a:off x="8778240" y="4754880"/>
            <a:ext cx="228600" cy="182880"/>
          </a:xfrm>
          <a:prstGeom prst="triangl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2" name="step7"/>
          <p:cNvSpPr/>
          <p:nvPr/>
        </p:nvSpPr>
        <p:spPr>
          <a:xfrm>
            <a:off x="905256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3" name="num7"/>
          <p:cNvSpPr/>
          <p:nvPr/>
        </p:nvSpPr>
        <p:spPr>
          <a:xfrm>
            <a:off x="9281160" y="41605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281160" y="42245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8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987552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COACH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9281160" y="4754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Pending quiz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928116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Review, edit, set Active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Full detail per step: </a:t>
            </a:r>
            <a:pPr indent="0" marL="0"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interactive flow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Collectors: one per source type</a:t>
            </a:r>
            <a:endParaRPr lang="en-US" sz="3200" dirty="0"/>
          </a:p>
        </p:txBody>
      </p:sp>
      <p:sp>
        <p:nvSpPr>
          <p:cNvPr id="4" name="src0"/>
          <p:cNvSpPr/>
          <p:nvPr/>
        </p:nvSpPr>
        <p:spPr>
          <a:xfrm>
            <a:off x="548640" y="164592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MVP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Scout Report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Report sections, depth chart, linked team stats, players, diagrams, linked reports. Reuses the Scout Report Print Builder.</a:t>
            </a:r>
            <a:endParaRPr lang="en-US" sz="1400" dirty="0"/>
          </a:p>
        </p:txBody>
      </p:sp>
      <p:sp>
        <p:nvSpPr>
          <p:cNvPr id="8" name="src1"/>
          <p:cNvSpPr/>
          <p:nvPr/>
        </p:nvSpPr>
        <p:spPr>
          <a:xfrm>
            <a:off x="3383280" y="164592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MVP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Presentation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432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Slides with their plays, diagrams and notes.</a:t>
            </a:r>
            <a:endParaRPr lang="en-US" sz="1400" dirty="0"/>
          </a:p>
        </p:txBody>
      </p:sp>
      <p:sp>
        <p:nvSpPr>
          <p:cNvPr id="12" name="src2"/>
          <p:cNvSpPr/>
          <p:nvPr/>
        </p:nvSpPr>
        <p:spPr>
          <a:xfrm>
            <a:off x="6217920" y="164592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MVP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Play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7432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Name, formation, positions and routes from diagram metadata, coach notes.</a:t>
            </a:r>
            <a:endParaRPr lang="en-US" sz="1400" dirty="0"/>
          </a:p>
        </p:txBody>
      </p:sp>
      <p:sp>
        <p:nvSpPr>
          <p:cNvPr id="16" name="src3"/>
          <p:cNvSpPr/>
          <p:nvPr/>
        </p:nvSpPr>
        <p:spPr>
          <a:xfrm>
            <a:off x="9052560" y="164592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NEXT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Later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7432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Team stats, playbook, game film, notes, several items per quiz, video.</a:t>
            </a:r>
            <a:endParaRPr lang="en-US" sz="1400" dirty="0"/>
          </a:p>
        </p:txBody>
      </p:sp>
      <p:sp>
        <p:nvSpPr>
          <p:cNvPr id="20" name="contract"/>
          <p:cNvSpPr/>
          <p:nvPr/>
        </p:nvSpPr>
        <p:spPr>
          <a:xfrm>
            <a:off x="548640" y="493776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Same output shape for every collector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collect(sourceType, itemId) → { sport, sourceType, sections[] }. Adding a new source or a new sport means one new collector and one new prompt, not a new pipeline. Works for football, basketball, hockey and lacrosse.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DATA PROCESSING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Compress in code before the AI sees it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Removed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10312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Internal IDs, timestamps, authors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Photo and logo URLs, print settings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Empty sections, all-zero stat 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Duplicate diagrams, repeated notes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HTML tags, diagram coordinates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4069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Kept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4805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Game info, coordinator notes, last 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Depth chart, non-zero player stats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Team stats with national ranks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Diagram names, positions, routes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Sample: 22 players, team stats, 6 diagrams. ~3.6 characters per token.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DATA PROCESSING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the AI actually reads</a:t>
            </a:r>
            <a:endParaRPr lang="en-US" sz="3200" dirty="0"/>
          </a:p>
        </p:txBody>
      </p:sp>
      <p:sp>
        <p:nvSpPr>
          <p:cNvPr id="4" name="codeCard"/>
          <p:cNvSpPr/>
          <p:nvPr/>
        </p:nvSpPr>
        <p:spPr>
          <a:xfrm>
            <a:off x="548640" y="1600200"/>
            <a:ext cx="7589520" cy="4389120"/>
          </a:xfrm>
          <a:prstGeom prst="roundRect">
            <a:avLst>
              <a:gd name="adj" fmla="val 1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football | scout_report | OPP Ridgeview Hawks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677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2677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Pressure on 3rd down; Cover 3 early downs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066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7066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W31-17 L14-24 W28-10 W21-20 L9-27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455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1455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X:#9 Pruitt Y:#3 Harlow RB:#5 Vance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84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5844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9|J.Pruitt|WR|rec=38 yds=623 td=2 long=57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4023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5|S.Vance|RB|att=102 yds=669 td=7 fum=2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62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TEAMSTATS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4622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off.pass yds=3155(71) td=22(85) int=11(77)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01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49011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def.rush yds=2231(207) td=24(186)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400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53400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"Shallow 2x2" Y=shallow H=dig X=post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Why this format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205740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Short labelled lines instead of nested JSON keys repeated per player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Numbers keep units and ranks, so questions can use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Done by code: free, fast, same result every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No second "summarizer" AI needed while sources are structured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Player names are invented.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AI REQUEST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Fixed part cached, variable part small</a:t>
            </a:r>
            <a:endParaRPr lang="en-US" sz="3200" dirty="0"/>
          </a:p>
        </p:txBody>
      </p:sp>
      <p:sp>
        <p:nvSpPr>
          <p:cNvPr id="4" name="req0"/>
          <p:cNvSpPr/>
          <p:nvPr/>
        </p:nvSpPr>
        <p:spPr>
          <a:xfrm>
            <a:off x="548640" y="1645920"/>
            <a:ext cx="5852160" cy="47548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reqk0"/>
          <p:cNvSpPr/>
          <p:nvPr/>
        </p:nvSpPr>
        <p:spPr>
          <a:xfrm>
            <a:off x="548640" y="1645920"/>
            <a:ext cx="128016" cy="4754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Base instructions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755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~600 tok</a:t>
            </a:r>
            <a:endParaRPr lang="en-US" sz="1300" dirty="0"/>
          </a:p>
        </p:txBody>
      </p:sp>
      <p:sp>
        <p:nvSpPr>
          <p:cNvPr id="8" name="req1"/>
          <p:cNvSpPr/>
          <p:nvPr/>
        </p:nvSpPr>
        <p:spPr>
          <a:xfrm>
            <a:off x="548640" y="2212848"/>
            <a:ext cx="5852160" cy="47548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reqk1"/>
          <p:cNvSpPr/>
          <p:nvPr/>
        </p:nvSpPr>
        <p:spPr>
          <a:xfrm>
            <a:off x="548640" y="2212848"/>
            <a:ext cx="128016" cy="4754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Sport × source prompt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3225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~500 tok</a:t>
            </a:r>
            <a:endParaRPr lang="en-US" sz="1300" dirty="0"/>
          </a:p>
        </p:txBody>
      </p:sp>
      <p:sp>
        <p:nvSpPr>
          <p:cNvPr id="12" name="req2"/>
          <p:cNvSpPr/>
          <p:nvPr/>
        </p:nvSpPr>
        <p:spPr>
          <a:xfrm>
            <a:off x="548640" y="2779776"/>
            <a:ext cx="5852160" cy="47548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reqk2"/>
          <p:cNvSpPr/>
          <p:nvPr/>
        </p:nvSpPr>
        <p:spPr>
          <a:xfrm>
            <a:off x="548640" y="2779776"/>
            <a:ext cx="128016" cy="4754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889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Output JSON schema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~250 tok</a:t>
            </a:r>
            <a:endParaRPr lang="en-US" sz="1300" dirty="0"/>
          </a:p>
        </p:txBody>
      </p:sp>
      <p:sp>
        <p:nvSpPr>
          <p:cNvPr id="16" name="req3"/>
          <p:cNvSpPr/>
          <p:nvPr/>
        </p:nvSpPr>
        <p:spPr>
          <a:xfrm>
            <a:off x="548640" y="3346704"/>
            <a:ext cx="5852160" cy="47548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reqk3"/>
          <p:cNvSpPr/>
          <p:nvPr/>
        </p:nvSpPr>
        <p:spPr>
          <a:xfrm>
            <a:off x="548640" y="3346704"/>
            <a:ext cx="128016" cy="4754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Diagram legend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456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~150 tok</a:t>
            </a:r>
            <a:endParaRPr lang="en-US" sz="1300" dirty="0"/>
          </a:p>
        </p:txBody>
      </p:sp>
      <p:sp>
        <p:nvSpPr>
          <p:cNvPr id="20" name="req4"/>
          <p:cNvSpPr/>
          <p:nvPr/>
        </p:nvSpPr>
        <p:spPr>
          <a:xfrm>
            <a:off x="548640" y="3913632"/>
            <a:ext cx="5852160" cy="47548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reqk4"/>
          <p:cNvSpPr/>
          <p:nvPr/>
        </p:nvSpPr>
        <p:spPr>
          <a:xfrm>
            <a:off x="548640" y="3913632"/>
            <a:ext cx="128016" cy="47548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Compact source data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~650–2,500 tok</a:t>
            </a:r>
            <a:endParaRPr lang="en-US" sz="1300" dirty="0"/>
          </a:p>
        </p:txBody>
      </p:sp>
      <p:sp>
        <p:nvSpPr>
          <p:cNvPr id="24" name="req5"/>
          <p:cNvSpPr/>
          <p:nvPr/>
        </p:nvSpPr>
        <p:spPr>
          <a:xfrm>
            <a:off x="548640" y="4480560"/>
            <a:ext cx="5852160" cy="47548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reqk5"/>
          <p:cNvSpPr/>
          <p:nvPr/>
        </p:nvSpPr>
        <p:spPr>
          <a:xfrm>
            <a:off x="548640" y="4480560"/>
            <a:ext cx="128016" cy="47548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Media metadata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590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~100–300 tok</a:t>
            </a:r>
            <a:endParaRPr lang="en-US" sz="1300" dirty="0"/>
          </a:p>
        </p:txBody>
      </p:sp>
      <p:sp>
        <p:nvSpPr>
          <p:cNvPr id="28" name="req6"/>
          <p:cNvSpPr/>
          <p:nvPr/>
        </p:nvSpPr>
        <p:spPr>
          <a:xfrm>
            <a:off x="548640" y="5047488"/>
            <a:ext cx="5852160" cy="47548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reqk6"/>
          <p:cNvSpPr/>
          <p:nvPr/>
        </p:nvSpPr>
        <p:spPr>
          <a:xfrm>
            <a:off x="548640" y="5047488"/>
            <a:ext cx="128016" cy="47548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5157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Options + coach note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5157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~80 tok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715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Cached: billed at 5–10% of input price 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■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Paid in full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Prompt library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One prompt per sport × source, stored as versioned files.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Scout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32688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Present.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42416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Play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Football</a:t>
            </a:r>
            <a:endParaRPr lang="en-US" sz="1300" dirty="0"/>
          </a:p>
        </p:txBody>
      </p:sp>
      <p:sp>
        <p:nvSpPr>
          <p:cNvPr id="39" name="cell00"/>
          <p:cNvSpPr/>
          <p:nvPr/>
        </p:nvSpPr>
        <p:spPr>
          <a:xfrm>
            <a:off x="8275320" y="292608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7532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41" name="cell01"/>
          <p:cNvSpPr/>
          <p:nvPr/>
        </p:nvSpPr>
        <p:spPr>
          <a:xfrm>
            <a:off x="9372600" y="292608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7260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43" name="cell02"/>
          <p:cNvSpPr/>
          <p:nvPr/>
        </p:nvSpPr>
        <p:spPr>
          <a:xfrm>
            <a:off x="10469880" y="292608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6988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94944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Basketball</a:t>
            </a:r>
            <a:endParaRPr lang="en-US" sz="1300" dirty="0"/>
          </a:p>
        </p:txBody>
      </p:sp>
      <p:sp>
        <p:nvSpPr>
          <p:cNvPr id="46" name="cell10"/>
          <p:cNvSpPr/>
          <p:nvPr/>
        </p:nvSpPr>
        <p:spPr>
          <a:xfrm>
            <a:off x="8275320" y="347472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75320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48" name="cell11"/>
          <p:cNvSpPr/>
          <p:nvPr/>
        </p:nvSpPr>
        <p:spPr>
          <a:xfrm>
            <a:off x="9372600" y="347472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372600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50" name="cell12"/>
          <p:cNvSpPr/>
          <p:nvPr/>
        </p:nvSpPr>
        <p:spPr>
          <a:xfrm>
            <a:off x="10469880" y="347472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469880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94944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Hockey</a:t>
            </a:r>
            <a:endParaRPr lang="en-US" sz="1300" dirty="0"/>
          </a:p>
        </p:txBody>
      </p:sp>
      <p:sp>
        <p:nvSpPr>
          <p:cNvPr id="53" name="cell20"/>
          <p:cNvSpPr/>
          <p:nvPr/>
        </p:nvSpPr>
        <p:spPr>
          <a:xfrm>
            <a:off x="8275320" y="402336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75320" y="4114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55" name="cell21"/>
          <p:cNvSpPr/>
          <p:nvPr/>
        </p:nvSpPr>
        <p:spPr>
          <a:xfrm>
            <a:off x="9372600" y="402336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372600" y="4114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57" name="cell22"/>
          <p:cNvSpPr/>
          <p:nvPr/>
        </p:nvSpPr>
        <p:spPr>
          <a:xfrm>
            <a:off x="10469880" y="402336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469880" y="4114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69494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Lacrosse</a:t>
            </a:r>
            <a:endParaRPr lang="en-US" sz="1300" dirty="0"/>
          </a:p>
        </p:txBody>
      </p:sp>
      <p:sp>
        <p:nvSpPr>
          <p:cNvPr id="60" name="cell30"/>
          <p:cNvSpPr/>
          <p:nvPr/>
        </p:nvSpPr>
        <p:spPr>
          <a:xfrm>
            <a:off x="8275320" y="457200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75320" y="4663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62" name="cell31"/>
          <p:cNvSpPr/>
          <p:nvPr/>
        </p:nvSpPr>
        <p:spPr>
          <a:xfrm>
            <a:off x="9372600" y="457200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372600" y="4663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64" name="cell32"/>
          <p:cNvSpPr/>
          <p:nvPr/>
        </p:nvSpPr>
        <p:spPr>
          <a:xfrm>
            <a:off x="10469880" y="4572000"/>
            <a:ext cx="914400" cy="41148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469880" y="4663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6949440" y="5257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12 prompts for the MVP, all four sports. Shared base rules keep each one short.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AI OUTPUT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AI returns questions only; our code builds the quiz</a:t>
            </a:r>
            <a:endParaRPr lang="en-US" sz="3200" dirty="0"/>
          </a:p>
        </p:txBody>
      </p:sp>
      <p:sp>
        <p:nvSpPr>
          <p:cNvPr id="4" name="jsonCard"/>
          <p:cNvSpPr/>
          <p:nvPr/>
        </p:nvSpPr>
        <p:spPr>
          <a:xfrm>
            <a:off x="548640" y="1600200"/>
            <a:ext cx="5120640" cy="4389120"/>
          </a:xfrm>
          <a:prstGeom prst="roundRect">
            <a:avLst>
              <a:gd name="adj" fmla="val 1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"questions":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"q": "Which receiver leads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Hawks in receptions?",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"choices": ["#9 Pruitt", "#3 Harlow",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"#1 Okafor", "#5 Vance"],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"correct": 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"focus": "personnel"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349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Enforced by structured output: always 4 choices, 1 correct, exactly N questions.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Question type is set by our code</a:t>
            </a:r>
            <a:endParaRPr lang="en-US" sz="1800" dirty="0"/>
          </a:p>
        </p:txBody>
      </p:sp>
      <p:sp>
        <p:nvSpPr>
          <p:cNvPr id="8" name="type0"/>
          <p:cNvSpPr/>
          <p:nvPr/>
        </p:nvSpPr>
        <p:spPr>
          <a:xfrm>
            <a:off x="6126480" y="2148840"/>
            <a:ext cx="54864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2313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Classic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313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Default. 4 choices as returned, order shuffled</a:t>
            </a:r>
            <a:endParaRPr lang="en-US" sz="1300" dirty="0"/>
          </a:p>
        </p:txBody>
      </p:sp>
      <p:sp>
        <p:nvSpPr>
          <p:cNvPr id="11" name="type1"/>
          <p:cNvSpPr/>
          <p:nvPr/>
        </p:nvSpPr>
        <p:spPr>
          <a:xfrm>
            <a:off x="6126480" y="2862072"/>
            <a:ext cx="54864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3026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026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Only when media is attached</a:t>
            </a:r>
            <a:endParaRPr lang="en-US" sz="1300" dirty="0"/>
          </a:p>
        </p:txBody>
      </p:sp>
      <p:sp>
        <p:nvSpPr>
          <p:cNvPr id="14" name="type2"/>
          <p:cNvSpPr/>
          <p:nvPr/>
        </p:nvSpPr>
        <p:spPr>
          <a:xfrm>
            <a:off x="6126480" y="3575304"/>
            <a:ext cx="54864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3739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Free form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739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Drop wrong choices; correct one = accepted answer</a:t>
            </a:r>
            <a:endParaRPr lang="en-US" sz="1300" dirty="0"/>
          </a:p>
        </p:txBody>
      </p:sp>
      <p:sp>
        <p:nvSpPr>
          <p:cNvPr id="17" name="type3"/>
          <p:cNvSpPr/>
          <p:nvPr/>
        </p:nvSpPr>
        <p:spPr>
          <a:xfrm>
            <a:off x="6126480" y="4288536"/>
            <a:ext cx="54864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4453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Stopwatch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453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Classic + timer defaults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Server also adds question IDs, teamId, settings, media and Pending status, so the AI never spends output tokens on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MEDIA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Diagrams and photos without sending images</a:t>
            </a:r>
            <a:endParaRPr lang="en-US" sz="3200" dirty="0"/>
          </a:p>
        </p:txBody>
      </p:sp>
      <p:sp>
        <p:nvSpPr>
          <p:cNvPr id="4" name="media0"/>
          <p:cNvSpPr/>
          <p:nvPr/>
        </p:nvSpPr>
        <p:spPr>
          <a:xfrm>
            <a:off x="548640" y="164592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SEND METADATA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Diagrams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Built in our tool, so they already have metadata: play name, formation, positions, routes, alerts. We send that text plus a legend of what each icon means.</a:t>
            </a:r>
            <a:endParaRPr lang="en-US" sz="1400" dirty="0"/>
          </a:p>
        </p:txBody>
      </p:sp>
      <p:sp>
        <p:nvSpPr>
          <p:cNvPr id="8" name="media1"/>
          <p:cNvSpPr/>
          <p:nvPr/>
        </p:nvSpPr>
        <p:spPr>
          <a:xfrm>
            <a:off x="4297680" y="164592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ATTACH ONLY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Photos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7432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Attached to questions as-is. Questions come from the source data the photo belongs to.</a:t>
            </a:r>
            <a:endParaRPr lang="en-US" sz="1400" dirty="0"/>
          </a:p>
        </p:txBody>
      </p:sp>
      <p:sp>
        <p:nvSpPr>
          <p:cNvPr id="12" name="media2"/>
          <p:cNvSpPr/>
          <p:nvPr/>
        </p:nvSpPr>
        <p:spPr>
          <a:xfrm>
            <a:off x="8046720" y="164592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NOT IN MVP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Video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7432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Too expensive to analyse for an MVP. Left out; can return later as attach-by-metadata.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MVP rule: one picked media item, attached to every question in the quiz. Mixed quizzes (some questions with media, some without) come later.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MODEL OPTIONS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Which model writes the questions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2801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</a:rPr>
                        <a:t>Input / output per 1M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</a:rPr>
                        <a:t>Per 10-Q quiz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</a:rPr>
                        <a:t>10k quizzes / month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Claude Haiku 5.5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$0.1 / $0.5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$0.0006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$6.08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Claude Sonnet 5.5  (start)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$2 / $10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$0.012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$120.10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Claude Opus 5.5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$4 / $20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$0.024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$240.20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OpenAI GPT-6 Luna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$0.1 / $0.5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$0.0006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$6.08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OpenAI GPT-6.1 Sol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$2 / $10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$0.012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$120.10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9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List prices checked Oct 28, 2026. Typical scout report, 10 questions, prompt caching on.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Recommendation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148840"/>
            <a:ext cx="3657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Start on Claude Sonnet 5.5 for question quality and sports terms.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Run the same 20 reports through Haiku 5.5. If coaches can't tell the difference, switch: ~20× cheaper.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Opus is not needed for this task.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Keep the provider behind one interface so we can switch later.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Monthly cost at scale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32104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−70%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697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cost per quiz vs the hackathon approach on the same model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−50%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572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more with the Batch API, if a wait of up to 24 h is acceptable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RUNNING IT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Reliability, tracking and limits</a:t>
            </a:r>
            <a:endParaRPr lang="en-US" sz="3200" dirty="0"/>
          </a:p>
        </p:txBody>
      </p:sp>
      <p:sp>
        <p:nvSpPr>
          <p:cNvPr id="4" name="run0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Reliability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Schema-enforced output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Check count, 4 unique choices, no duplicates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1 retry, then a clear error</a:t>
            </a:r>
            <a:endParaRPr lang="en-US" sz="1400" dirty="0"/>
          </a:p>
        </p:txBody>
      </p:sp>
      <p:sp>
        <p:nvSpPr>
          <p:cNvPr id="7" name="run1"/>
          <p:cNvSpPr/>
          <p:nvPr/>
        </p:nvSpPr>
        <p:spPr>
          <a:xfrm>
            <a:off x="6172200" y="164592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Tracking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317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Tokens and cost per generation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Per team, user, model, prompt version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Status and duration for each job</a:t>
            </a:r>
            <a:endParaRPr lang="en-US" sz="1400" dirty="0"/>
          </a:p>
        </p:txBody>
      </p:sp>
      <p:sp>
        <p:nvSpPr>
          <p:cNvPr id="10" name="run2"/>
          <p:cNvSpPr/>
          <p:nvPr/>
        </p:nvSpPr>
        <p:spPr>
          <a:xfrm>
            <a:off x="548640" y="388620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Limits (to decide)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5720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Free generations per team per month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Paid or plan-based above that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Daily hard cap against abuse</a:t>
            </a:r>
            <a:endParaRPr lang="en-US" sz="1400" dirty="0"/>
          </a:p>
        </p:txBody>
      </p:sp>
      <p:sp>
        <p:nvSpPr>
          <p:cNvPr id="13" name="run3"/>
          <p:cNvSpPr/>
          <p:nvPr/>
        </p:nvSpPr>
        <p:spPr>
          <a:xfrm>
            <a:off x="6172200" y="388620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Privacy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5720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No internal IDs, emails, contacts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Opponent names and numbers are sent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Confirm provider no-training terms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Decisions needed today</a:t>
            </a:r>
            <a:endParaRPr lang="en-US" sz="3200" dirty="0"/>
          </a:p>
        </p:txBody>
      </p:sp>
      <p:sp>
        <p:nvSpPr>
          <p:cNvPr id="4" name="q0"/>
          <p:cNvSpPr/>
          <p:nvPr/>
        </p:nvSpPr>
        <p:spPr>
          <a:xfrm>
            <a:off x="548640" y="17190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013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Approach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Code compaction + one AI call with structured output, as shown</a:t>
            </a:r>
            <a:endParaRPr lang="en-US" sz="1500" dirty="0"/>
          </a:p>
        </p:txBody>
      </p:sp>
      <p:sp>
        <p:nvSpPr>
          <p:cNvPr id="8" name="q1"/>
          <p:cNvSpPr/>
          <p:nvPr/>
        </p:nvSpPr>
        <p:spPr>
          <a:xfrm>
            <a:off x="548640" y="26791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614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24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Provider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Start with Anthropic (Claude Sonnet 5.5), test Haiku 5.5</a:t>
            </a:r>
            <a:endParaRPr lang="en-US" sz="1500" dirty="0"/>
          </a:p>
        </p:txBody>
      </p:sp>
      <p:sp>
        <p:nvSpPr>
          <p:cNvPr id="12" name="q2"/>
          <p:cNvSpPr/>
          <p:nvPr/>
        </p:nvSpPr>
        <p:spPr>
          <a:xfrm>
            <a:off x="548640" y="363931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216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84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Pricing for teams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Free quota per team? Paid tier? Who sees the cost?</a:t>
            </a:r>
            <a:endParaRPr lang="en-US" sz="1500" dirty="0"/>
          </a:p>
        </p:txBody>
      </p:sp>
      <p:sp>
        <p:nvSpPr>
          <p:cNvPr id="16" name="q3"/>
          <p:cNvSpPr/>
          <p:nvPr/>
        </p:nvSpPr>
        <p:spPr>
          <a:xfrm>
            <a:off x="548640" y="45994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81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544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MVP scope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Scout report, presentation, play · all four sports · one media item</a:t>
            </a:r>
            <a:endParaRPr lang="en-US" sz="1500" dirty="0"/>
          </a:p>
        </p:txBody>
      </p:sp>
      <p:sp>
        <p:nvSpPr>
          <p:cNvPr id="20" name="after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6509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After approval: build the scout report collector and compaction, test 20 real reports on Sonnet vs Haiku, review questions with a coach.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st Play Dark">
  <a:themeElements>
    <a:clrScheme name="Just Play Dark">
      <a:dk1>
        <a:srgbClr val="0D0F12"/>
      </a:dk1>
      <a:lt1>
        <a:srgbClr val="FFFFFF"/>
      </a:lt1>
      <a:dk2>
        <a:srgbClr val="1A1E24"/>
      </a:dk2>
      <a:lt2>
        <a:srgbClr val="9AA3B0"/>
      </a:lt2>
      <a:accent1>
        <a:srgbClr val="2EA3DB"/>
      </a:accent1>
      <a:accent2>
        <a:srgbClr val="2FB37A"/>
      </a:accent2>
      <a:accent3>
        <a:srgbClr val="E0A43A"/>
      </a:accent3>
      <a:accent4>
        <a:srgbClr val="E2574C"/>
      </a:accent4>
      <a:accent5>
        <a:srgbClr val="242A32"/>
      </a:accent5>
      <a:accent6>
        <a:srgbClr val="323944"/>
      </a:accent6>
      <a:hlink>
        <a:srgbClr val="2EA3DB"/>
      </a:hlink>
      <a:folHlink>
        <a:srgbClr val="2EA3DB"/>
      </a:folHlink>
    </a:clrScheme>
    <a:fontScheme name="Just Play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Just Play Sports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Quiz Generator</dc:title>
  <dc:subject>PptxGenJS Presentation</dc:subject>
  <dc:creator>Ivan Nimets</dc:creator>
  <cp:lastModifiedBy>Ivan Nimets</cp:lastModifiedBy>
  <cp:revision>1</cp:revision>
  <dcterms:created xsi:type="dcterms:W3CDTF">2026-10-28T17:46:02Z</dcterms:created>
  <dcterms:modified xsi:type="dcterms:W3CDTF">2026-10-28T17:46:02Z</dcterms:modified>
</cp:coreProperties>
</file>